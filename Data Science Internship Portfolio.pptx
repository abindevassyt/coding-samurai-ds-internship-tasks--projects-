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60" r:id="rId3"/>
    <p:sldId id="257" r:id="rId4"/>
    <p:sldId id="258" r:id="rId5"/>
    <p:sldId id="259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007533" y="0"/>
            <a:ext cx="7934348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8941881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11808" y="3428998"/>
            <a:ext cx="5518066" cy="2268559"/>
          </a:xfrm>
        </p:spPr>
        <p:txBody>
          <a:bodyPr anchor="t">
            <a:normAutofit/>
          </a:bodyPr>
          <a:lstStyle>
            <a:lvl1pPr algn="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72274" y="2268786"/>
            <a:ext cx="5357600" cy="1160213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B3A824-1A51-4B26-AD58-A6D8E14F6C04}" type="datetimeFigureOut">
              <a:rPr lang="en-US" dirty="0"/>
              <a:t>12/6/2025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Ins="45720"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2191282" y="3262852"/>
            <a:ext cx="4156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24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162C4-EDD9-4389-A98B-B87ECEA2A816}" type="datetimeFigureOut">
              <a:rPr lang="en-US" dirty="0"/>
              <a:t>12/6/2025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2194943" y="641225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5" name="Rectangle 24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1" name="TextBox 10"/>
          <p:cNvSpPr txBox="1"/>
          <p:nvPr/>
        </p:nvSpPr>
        <p:spPr>
          <a:xfrm>
            <a:off x="2191843" y="2962586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3147254"/>
            <a:ext cx="7956560" cy="1424746"/>
          </a:xfrm>
        </p:spPr>
        <p:txBody>
          <a:bodyPr anchor="t">
            <a:normAutofit/>
          </a:bodyPr>
          <a:lstStyle>
            <a:lvl1pPr algn="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73968" y="2268786"/>
            <a:ext cx="7791931" cy="878468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059C3-6A89-4494-99FF-5A4D6FFD50EB}" type="datetimeFigureOut">
              <a:rPr lang="en-US" dirty="0"/>
              <a:t>12/6/2025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7" name="Rectangle 26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805817"/>
            <a:ext cx="7950984" cy="10817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605374" y="2052116"/>
            <a:ext cx="3891960" cy="39978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66636" y="2052114"/>
            <a:ext cx="3894222" cy="39978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54B2F-12DE-47F5-8894-472B206D2E1E}" type="datetimeFigureOut">
              <a:rPr lang="en-US" dirty="0"/>
              <a:t>12/6/2025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2196172" y="641223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1" name="Rectangle 20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2193650" y="636424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805818"/>
            <a:ext cx="7956560" cy="107834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09285" y="2052115"/>
            <a:ext cx="3896467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none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609285" y="2851331"/>
            <a:ext cx="3893623" cy="307143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66634" y="2052115"/>
            <a:ext cx="3899798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none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66635" y="2851331"/>
            <a:ext cx="3899798" cy="307143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0E46F-7819-4ACF-B48B-48222C2ACC88}" type="datetimeFigureOut">
              <a:rPr lang="en-US" dirty="0"/>
              <a:t>12/6/2025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4" name="Rectangle 13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F3416-4057-4DAA-829D-4CA07428D088}" type="datetimeFigureOut">
              <a:rPr lang="en-US" dirty="0"/>
              <a:t>12/6/2025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2196172" y="641226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3" name="Rectangle 12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D9284-D300-4297-87F7-E791DCC15DB1}" type="datetimeFigureOut">
              <a:rPr lang="en-US" dirty="0"/>
              <a:t>12/6/2025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6" name="Rectangle 25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0" name="TextBox 9"/>
          <p:cNvSpPr txBox="1"/>
          <p:nvPr/>
        </p:nvSpPr>
        <p:spPr>
          <a:xfrm>
            <a:off x="1554154" y="1127550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0323" y="1282451"/>
            <a:ext cx="2664361" cy="1903241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20154" y="805818"/>
            <a:ext cx="5446278" cy="52441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0322" y="3186154"/>
            <a:ext cx="2664361" cy="2386397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525BB-DA17-4BA0-B3C8-3AC3ABC827E6}" type="datetimeFigureOut">
              <a:rPr lang="en-US" dirty="0"/>
              <a:t>12/6/2025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0" name="Rectangle 19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47062" y="3229"/>
            <a:ext cx="4629734" cy="6858000"/>
          </a:xfrm>
          <a:solidFill>
            <a:schemeClr val="tx1">
              <a:alpha val="10000"/>
            </a:schemeClr>
          </a:solidFill>
          <a:ln w="9525" cap="sq">
            <a:noFill/>
            <a:miter lim="800000"/>
          </a:ln>
          <a:effectLst/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686" y="1127550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1241" y="1282452"/>
            <a:ext cx="3970986" cy="1900473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0322" y="3182928"/>
            <a:ext cx="3971874" cy="2386394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6C4C9A-3960-41CF-A4E9-2A8FB932454B}" type="datetimeFigureOut">
              <a:rPr lang="en-US" dirty="0"/>
              <a:t>12/6/2025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5" name="Rectangle 14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9" name="TextBox 8"/>
          <p:cNvSpPr txBox="1"/>
          <p:nvPr/>
        </p:nvSpPr>
        <p:spPr>
          <a:xfrm>
            <a:off x="2194236" y="641225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11808" y="808056"/>
            <a:ext cx="7954091" cy="107722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7E33E-8B18-4087-B112-809917729534}" type="datetimeFigureOut">
              <a:rPr lang="en-US" dirty="0"/>
              <a:t>12/6/2025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9" name="TextBox 8"/>
          <p:cNvSpPr txBox="1"/>
          <p:nvPr/>
        </p:nvSpPr>
        <p:spPr>
          <a:xfrm rot="5400000">
            <a:off x="10337141" y="416061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39380" y="805818"/>
            <a:ext cx="1326519" cy="5244126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608751" y="970410"/>
            <a:ext cx="6466903" cy="50795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FE419-2371-464F-8239-3959401C3561}" type="datetimeFigureOut">
              <a:rPr lang="en-US" dirty="0"/>
              <a:t>12/6/2025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1794" y="2105202"/>
            <a:ext cx="9360205" cy="4752798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9867" cy="6858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0"/>
            <a:ext cx="96417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611808" y="808056"/>
            <a:ext cx="7958331" cy="107722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73599" y="2052116"/>
            <a:ext cx="7796540" cy="3997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-810065" y="5270604"/>
            <a:ext cx="2662729" cy="182880"/>
          </a:xfrm>
          <a:prstGeom prst="rect">
            <a:avLst/>
          </a:prstGeom>
        </p:spPr>
        <p:txBody>
          <a:bodyPr vert="horz" lIns="91440" tIns="18288" rIns="91440" bIns="45720" rtlCol="0" anchor="t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3CBC1C18-307B-4F68-A007-B5B542270E8D}" type="datetimeFigureOut">
              <a:rPr lang="en-US" dirty="0"/>
              <a:t>12/6/2025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-2237130" y="3661144"/>
            <a:ext cx="5885352" cy="179176"/>
          </a:xfrm>
          <a:prstGeom prst="rect">
            <a:avLst/>
          </a:prstGeom>
        </p:spPr>
        <p:txBody>
          <a:bodyPr vert="horz" lIns="91440" tIns="45720" rIns="91440" bIns="18288" rtlCol="0" anchor="b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8407" y="164592"/>
            <a:ext cx="636727" cy="322851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57" name="Rectangle 56"/>
          <p:cNvSpPr/>
          <p:nvPr/>
        </p:nvSpPr>
        <p:spPr>
          <a:xfrm>
            <a:off x="962042" y="0"/>
            <a:ext cx="4571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3400" b="0" i="0" kern="1200" cap="none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344488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95338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800" kern="120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58888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709738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400" kern="120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173288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642616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3108960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575304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4041648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5A9A89-1FA8-F6F0-C108-B093102A331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Data Science Internship Portfolio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BFF3DC7-6E71-77E1-1CFD-553DDF61A41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b="1" dirty="0"/>
              <a:t>Done By : </a:t>
            </a:r>
          </a:p>
          <a:p>
            <a:r>
              <a:rPr lang="en-IN" b="1" dirty="0"/>
              <a:t>Abin Devassy Tharayil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074248E-72D9-DD7D-15BD-CF9A2DA2D1D1}"/>
              </a:ext>
            </a:extLst>
          </p:cNvPr>
          <p:cNvSpPr txBox="1"/>
          <p:nvPr/>
        </p:nvSpPr>
        <p:spPr>
          <a:xfrm>
            <a:off x="3129534" y="5798141"/>
            <a:ext cx="50003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6 Projects: From Analytics to Machine Learning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852627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74929F-6FB1-5C48-DDC7-8E58B476E5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62119" y="890352"/>
            <a:ext cx="7958331" cy="1077229"/>
          </a:xfrm>
        </p:spPr>
        <p:txBody>
          <a:bodyPr/>
          <a:lstStyle/>
          <a:p>
            <a:r>
              <a:rPr lang="en-IN" b="1" dirty="0"/>
              <a:t>Internship Overview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8A6BF11-3980-1574-F9AC-5EB59B171CD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785895" y="1661198"/>
            <a:ext cx="7534555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Goal: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Applied Data Science techniques to solve real-world problems.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Scope: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Covered Data Analytics, Predictive Modeling, Time Series, and NLP.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Tech Stack: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Python, Pandas, Scikit-Learn, Statsmodels, Matplotlib, Seaborn.</a:t>
            </a:r>
          </a:p>
        </p:txBody>
      </p:sp>
    </p:spTree>
    <p:extLst>
      <p:ext uri="{BB962C8B-B14F-4D97-AF65-F5344CB8AC3E}">
        <p14:creationId xmlns:p14="http://schemas.microsoft.com/office/powerpoint/2010/main" val="5287663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8B8585-5AC4-21AB-13BE-3A863BB8C3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Level 1 [Beginner] </a:t>
            </a:r>
            <a:br>
              <a:rPr lang="en-US" b="1" dirty="0"/>
            </a:br>
            <a:r>
              <a:rPr lang="en-US" b="1" dirty="0"/>
              <a:t>Project 1 - Superstore Sales Analysis</a:t>
            </a:r>
            <a:endParaRPr lang="en-IN" b="1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CDD6C06-4C54-5D41-5F06-CD082CEE1CC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611808" y="2068679"/>
            <a:ext cx="7876360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Goal: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Optimize profit &amp; identifying regional trends.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Key Insight: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'Tables' category is loss-making despite high sales; West region leads market share.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Visuals Created: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Sales by Category, Regional Pie Charts, Profit Heatmaps.</a:t>
            </a:r>
          </a:p>
        </p:txBody>
      </p:sp>
    </p:spTree>
    <p:extLst>
      <p:ext uri="{BB962C8B-B14F-4D97-AF65-F5344CB8AC3E}">
        <p14:creationId xmlns:p14="http://schemas.microsoft.com/office/powerpoint/2010/main" val="21110932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97BA6B-D0CA-1F02-3224-2A0E091719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Level 1 [Beginner] </a:t>
            </a:r>
            <a:br>
              <a:rPr lang="en-US" b="1" dirty="0"/>
            </a:br>
            <a:r>
              <a:rPr lang="en-US" b="1" dirty="0"/>
              <a:t>Project 2 - Advertisement Sales Prediction</a:t>
            </a:r>
            <a:endParaRPr lang="en-IN" b="1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1E75ABD-91D1-AA2B-1372-7F11A6EFD32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611808" y="2373636"/>
            <a:ext cx="7760614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Goal: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Predict sales based on TV, Radio, and Newspaper ad spend.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Model: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Multiple Linear Regression.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Result: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Achieved R² Score of 0.90.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Business Value: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Identified that Radio ads offered high efficiency per dollar.</a:t>
            </a:r>
          </a:p>
        </p:txBody>
      </p:sp>
    </p:spTree>
    <p:extLst>
      <p:ext uri="{BB962C8B-B14F-4D97-AF65-F5344CB8AC3E}">
        <p14:creationId xmlns:p14="http://schemas.microsoft.com/office/powerpoint/2010/main" val="12783039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1E5B8C-95FC-6EE9-2500-72650668F1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11808" y="808056"/>
            <a:ext cx="7958331" cy="1477328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Level 2 [Intermediate</a:t>
            </a:r>
            <a:r>
              <a:rPr lang="en-IN" sz="3600" b="1" dirty="0"/>
              <a:t>]</a:t>
            </a:r>
            <a:r>
              <a:rPr lang="en-IN" b="1" dirty="0"/>
              <a:t> </a:t>
            </a:r>
            <a:br>
              <a:rPr lang="en-IN" b="1" dirty="0"/>
            </a:br>
            <a:r>
              <a:rPr lang="en-IN" b="1" dirty="0"/>
              <a:t>Project 1 - Titanic Exploratory Data Analysis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F319F48-27C0-C584-9D95-C0D24BCAA66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611808" y="2452592"/>
            <a:ext cx="7836408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Goal: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Analyze demographics to understand survival factors.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Key Insight: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"Women &amp; Children First" rule validated (74% female survival vs 18% male).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Technique: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Used Multivariate Analysis (Violin plots) to check Age vs. Class.</a:t>
            </a:r>
          </a:p>
        </p:txBody>
      </p:sp>
    </p:spTree>
    <p:extLst>
      <p:ext uri="{BB962C8B-B14F-4D97-AF65-F5344CB8AC3E}">
        <p14:creationId xmlns:p14="http://schemas.microsoft.com/office/powerpoint/2010/main" val="10418914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AF7EA1-E641-A225-CBF0-45B0548263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Level 2 [Intermediate</a:t>
            </a:r>
            <a:r>
              <a:rPr lang="en-IN" sz="3600" b="1" dirty="0"/>
              <a:t>]</a:t>
            </a:r>
            <a:r>
              <a:rPr lang="en-IN" b="1" dirty="0"/>
              <a:t> </a:t>
            </a:r>
            <a:br>
              <a:rPr lang="en-IN" b="1" dirty="0"/>
            </a:br>
            <a:r>
              <a:rPr lang="en-IN" b="1" dirty="0"/>
              <a:t>Project 2 – Titanic Survival Prediction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5EA4A62-DCBA-5726-DAE4-EDD03C58D20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692703" y="2041350"/>
            <a:ext cx="7796540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Goal: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Build a model to predict if a passenger survives.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Model: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Logistic Regression (Binary Classification).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Performance: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81% Accuracy on Test Data.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Feature Engineering: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Created '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FamilySize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' and encoded categorical variables.</a:t>
            </a:r>
          </a:p>
        </p:txBody>
      </p:sp>
    </p:spTree>
    <p:extLst>
      <p:ext uri="{BB962C8B-B14F-4D97-AF65-F5344CB8AC3E}">
        <p14:creationId xmlns:p14="http://schemas.microsoft.com/office/powerpoint/2010/main" val="38265106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D2107-8E9B-4897-CE4F-732C0FD6C6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Level 3 [Advanced] </a:t>
            </a:r>
            <a:br>
              <a:rPr lang="en-IN" b="1" dirty="0"/>
            </a:br>
            <a:r>
              <a:rPr lang="en-IN" b="1" dirty="0"/>
              <a:t>Project 1 – Stock Price Forecasting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3667163-AE91-54A9-5A51-0F5FD4E314C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611808" y="1987825"/>
            <a:ext cx="6855033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Goal: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Forecast AAPL stock trends using Time Series data.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Model: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ARIMA (5,1,0) on real-time data fetched via API.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Result: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Successfully predicted the 30-day future trend.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Validation: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Used Dickey-Fuller test to ensure data stationarity.</a:t>
            </a:r>
          </a:p>
        </p:txBody>
      </p:sp>
    </p:spTree>
    <p:extLst>
      <p:ext uri="{BB962C8B-B14F-4D97-AF65-F5344CB8AC3E}">
        <p14:creationId xmlns:p14="http://schemas.microsoft.com/office/powerpoint/2010/main" val="5869405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C8F941-7E79-3B3F-0476-83C5F4ED3F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Level 3 [Advanced] </a:t>
            </a:r>
            <a:br>
              <a:rPr lang="en-IN" b="1" dirty="0"/>
            </a:br>
            <a:r>
              <a:rPr lang="en-IN" b="1" dirty="0"/>
              <a:t>Project 2 – Social Media Sentiment Analysis 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A0E30DC-A2EF-8E68-95C1-F20632C34A1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611808" y="2690336"/>
            <a:ext cx="6663009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Goal: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Detect customer sentiment for US Airlines using NLP.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Model: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Naive Bayes Classifier + TF-IDF Vectorization.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Insight: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"Customer Service" and "Late Flight" are top complaint drivers.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Visualization: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Word Clouds and Confusion Matrices.</a:t>
            </a:r>
          </a:p>
        </p:txBody>
      </p:sp>
    </p:spTree>
    <p:extLst>
      <p:ext uri="{BB962C8B-B14F-4D97-AF65-F5344CB8AC3E}">
        <p14:creationId xmlns:p14="http://schemas.microsoft.com/office/powerpoint/2010/main" val="4148082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4EA875-6FAE-B644-4D7F-6D8F88CC95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Conclusion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DFD64A4-7916-57D2-D92D-2E92E9AAB25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611808" y="1548913"/>
            <a:ext cx="7357953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Summary: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Delivered 6 end-to-end projects demonstrating full-stack data science capability.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GitHub: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LinkedIn: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altLang="en-US" sz="1800" dirty="0">
                <a:latin typeface="Arial" panose="020B0604020202020204" pitchFamily="34" charset="0"/>
              </a:rPr>
              <a:t>https://www.linkedin.com/in/abin-devassy-tharayil/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842476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adison">
  <a:themeElements>
    <a:clrScheme name="Madison">
      <a:dk1>
        <a:sysClr val="windowText" lastClr="000000"/>
      </a:dk1>
      <a:lt1>
        <a:sysClr val="window" lastClr="FFFFFF"/>
      </a:lt1>
      <a:dk2>
        <a:srgbClr val="1F282E"/>
      </a:dk2>
      <a:lt2>
        <a:srgbClr val="C2F5FC"/>
      </a:lt2>
      <a:accent1>
        <a:srgbClr val="4091F3"/>
      </a:accent1>
      <a:accent2>
        <a:srgbClr val="8BBCF1"/>
      </a:accent2>
      <a:accent3>
        <a:srgbClr val="CB6A6A"/>
      </a:accent3>
      <a:accent4>
        <a:srgbClr val="C567AF"/>
      </a:accent4>
      <a:accent5>
        <a:srgbClr val="A684F9"/>
      </a:accent5>
      <a:accent6>
        <a:srgbClr val="A9ACEE"/>
      </a:accent6>
      <a:hlink>
        <a:srgbClr val="6D9CC5"/>
      </a:hlink>
      <a:folHlink>
        <a:srgbClr val="6D82A0"/>
      </a:folHlink>
    </a:clrScheme>
    <a:fontScheme name="Madison">
      <a:maj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adison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alpha val="88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dison" id="{025CB5FB-2DD3-45EE-B6F0-CC461540EB19}" vid="{178B2DAB-5DDE-4060-A857-D2E1CDA9250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TM16401375[[fn=Madison]]</Template>
  <TotalTime>32</TotalTime>
  <Words>420</Words>
  <Application>Microsoft Office PowerPoint</Application>
  <PresentationFormat>Widescreen</PresentationFormat>
  <Paragraphs>40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MS Shell Dlg 2</vt:lpstr>
      <vt:lpstr>Wingdings</vt:lpstr>
      <vt:lpstr>Wingdings 3</vt:lpstr>
      <vt:lpstr>Madison</vt:lpstr>
      <vt:lpstr>Data Science Internship Portfolio</vt:lpstr>
      <vt:lpstr>Internship Overview</vt:lpstr>
      <vt:lpstr>Level 1 [Beginner]  Project 1 - Superstore Sales Analysis</vt:lpstr>
      <vt:lpstr>Level 1 [Beginner]  Project 2 - Advertisement Sales Prediction</vt:lpstr>
      <vt:lpstr>Level 2 [Intermediate]  Project 1 - Titanic Exploratory Data Analysis</vt:lpstr>
      <vt:lpstr>Level 2 [Intermediate]  Project 2 – Titanic Survival Prediction</vt:lpstr>
      <vt:lpstr>Level 3 [Advanced]  Project 1 – Stock Price Forecasting</vt:lpstr>
      <vt:lpstr>Level 3 [Advanced]  Project 2 – Social Media Sentiment Analysis 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Abin Devassy Tharayil</dc:creator>
  <cp:lastModifiedBy>Abin Devassy Tharayil</cp:lastModifiedBy>
  <cp:revision>1</cp:revision>
  <dcterms:created xsi:type="dcterms:W3CDTF">2025-12-06T03:54:52Z</dcterms:created>
  <dcterms:modified xsi:type="dcterms:W3CDTF">2025-12-06T04:27:33Z</dcterms:modified>
</cp:coreProperties>
</file>